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bb650287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bb650287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 physicians had higher mortality rates, can we predict deterioration events in </a:t>
            </a:r>
            <a:r>
              <a:rPr lang="en-GB"/>
              <a:t>advance, 26% mortality reduction since deploying tool (Signal One bought model) -Amol Verma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bb6502877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bb6502877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bb6502877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bb6502877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384ef31472_3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384ef31472_3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384ef31472_3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384ef31472_3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bb6502877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bb6502877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386ad0f22f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386ad0f22f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386ad0f22f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386ad0f22f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84ef31472_3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384ef31472_3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86ad0f22f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86ad0f22f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386ad0f22f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386ad0f22f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152400">
            <a:solidFill>
              <a:srgbClr val="1E37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6697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380">
                <a:latin typeface="Roboto"/>
                <a:ea typeface="Roboto"/>
                <a:cs typeface="Roboto"/>
                <a:sym typeface="Roboto"/>
              </a:rPr>
              <a:t>Predicting Patient </a:t>
            </a:r>
            <a:r>
              <a:rPr lang="en-GB" sz="3380">
                <a:latin typeface="Roboto"/>
                <a:ea typeface="Roboto"/>
                <a:cs typeface="Roboto"/>
                <a:sym typeface="Roboto"/>
              </a:rPr>
              <a:t>Deterioration</a:t>
            </a:r>
            <a:r>
              <a:rPr lang="en-GB" sz="3380">
                <a:latin typeface="Roboto"/>
                <a:ea typeface="Roboto"/>
                <a:cs typeface="Roboto"/>
                <a:sym typeface="Roboto"/>
              </a:rPr>
              <a:t> based on General Internal Medicine Dataset</a:t>
            </a:r>
            <a:endParaRPr sz="338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30306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Team 5.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2025 Toronto Health Datathon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0" l="0" r="0" t="13547"/>
          <a:stretch/>
        </p:blipFill>
        <p:spPr>
          <a:xfrm>
            <a:off x="103775" y="4421550"/>
            <a:ext cx="1697574" cy="64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152400">
            <a:solidFill>
              <a:srgbClr val="1E37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Background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b="1"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Patient deterioration </a:t>
            </a:r>
            <a:r>
              <a:rPr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leads to adverse events, longer hospital stays, and higher costs</a:t>
            </a:r>
            <a:r>
              <a:rPr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Traditional clinical assessments may miss</a:t>
            </a:r>
            <a:r>
              <a:rPr b="1"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complex patterns</a:t>
            </a:r>
            <a:r>
              <a:rPr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of deterioration.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Extracting meaningful insights from </a:t>
            </a:r>
            <a:r>
              <a:rPr b="1"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diverse features</a:t>
            </a:r>
            <a:r>
              <a:rPr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(e.g., demographics, lab results) is challenging.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b="1"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Early identification </a:t>
            </a:r>
            <a:r>
              <a:rPr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of at-risk patients improves mortality outcomes.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3">
            <a:alphaModFix/>
          </a:blip>
          <a:srcRect b="0" l="0" r="0" t="13547"/>
          <a:stretch/>
        </p:blipFill>
        <p:spPr>
          <a:xfrm>
            <a:off x="103775" y="4421550"/>
            <a:ext cx="1697574" cy="64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152400">
            <a:solidFill>
              <a:srgbClr val="1E37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Study Question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12313"/>
            <a:ext cx="8520600" cy="12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features are associated with or can be used to predict patient deterioration in the General Internal Medicine ward leading to death or ICU transfer?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243328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Hypothesis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3060425"/>
            <a:ext cx="8520600" cy="15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GB">
                <a:solidFill>
                  <a:schemeClr val="dk1"/>
                </a:solidFill>
              </a:rPr>
              <a:t>We specifically hypothesized that those prescribed a combination of Cardiovascular medications such as hypotensive drugs, vasodilating drugs as well as central nervous system agents such as anticonvulsants would directly correspond to patient outcomes leading to death.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 b="0" l="0" r="0" t="13547"/>
          <a:stretch/>
        </p:blipFill>
        <p:spPr>
          <a:xfrm>
            <a:off x="103775" y="4421550"/>
            <a:ext cx="1697574" cy="64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152400">
            <a:solidFill>
              <a:srgbClr val="1E37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0500" y="62275"/>
            <a:ext cx="3750394" cy="50005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231200"/>
            <a:ext cx="611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Dataset Information/Study Population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944875"/>
            <a:ext cx="45804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b="1"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22,000+ patient encounters</a:t>
            </a: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from 14,000 unique patients admitted to the </a:t>
            </a:r>
            <a:r>
              <a:rPr b="1"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GIM service at St. Michael’s Hospital </a:t>
            </a: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between 2011 and 2019.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7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Patients with a minimum of </a:t>
            </a:r>
            <a:r>
              <a:rPr b="1"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30 hours admission</a:t>
            </a: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are included in the datas</a:t>
            </a: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b="1"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De-identified health data</a:t>
            </a: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Vital Signs, Laboratory Measures, Shift Assessments, Fluid Intake/Outtake, Disease-Specific Data, Clinical Orders, Medicatio</a:t>
            </a: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ns, </a:t>
            </a: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Demographic Data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 rotWithShape="1">
          <a:blip r:embed="rId4">
            <a:alphaModFix/>
          </a:blip>
          <a:srcRect b="0" l="0" r="0" t="13547"/>
          <a:stretch/>
        </p:blipFill>
        <p:spPr>
          <a:xfrm>
            <a:off x="103775" y="4421550"/>
            <a:ext cx="1697574" cy="64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152400">
            <a:solidFill>
              <a:srgbClr val="1E37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Study Roadmap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8520600" cy="31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Run a </a:t>
            </a:r>
            <a:r>
              <a:rPr b="1"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principal component analysis</a:t>
            </a:r>
            <a:r>
              <a:rPr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 visualize groupings in the data and reduce the number of variables.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Use a </a:t>
            </a:r>
            <a:r>
              <a:rPr b="1"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clustering algorithm</a:t>
            </a:r>
            <a:r>
              <a:rPr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 quantitatively assign data points to clusters in the data.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Determine which </a:t>
            </a:r>
            <a:r>
              <a:rPr b="1"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features </a:t>
            </a:r>
            <a:r>
              <a:rPr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distinguish a cluster.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Run a </a:t>
            </a:r>
            <a:r>
              <a:rPr b="1"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multiple linear regression </a:t>
            </a:r>
            <a:r>
              <a:rPr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with those features.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2" name="Google Shape;92;p17"/>
          <p:cNvPicPr preferRelativeResize="0"/>
          <p:nvPr/>
        </p:nvPicPr>
        <p:blipFill rotWithShape="1">
          <a:blip r:embed="rId3">
            <a:alphaModFix/>
          </a:blip>
          <a:srcRect b="0" l="0" r="0" t="13547"/>
          <a:stretch/>
        </p:blipFill>
        <p:spPr>
          <a:xfrm>
            <a:off x="103775" y="4421550"/>
            <a:ext cx="1697574" cy="64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152400">
            <a:solidFill>
              <a:srgbClr val="1E37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Study Roadmap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152475"/>
            <a:ext cx="8520600" cy="31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Pre-processing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Remove repeat patients and missing data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One-hot encode categorical variables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0" name="Google Shape;100;p18"/>
          <p:cNvPicPr preferRelativeResize="0"/>
          <p:nvPr/>
        </p:nvPicPr>
        <p:blipFill rotWithShape="1">
          <a:blip r:embed="rId3">
            <a:alphaModFix/>
          </a:blip>
          <a:srcRect b="0" l="0" r="0" t="13547"/>
          <a:stretch/>
        </p:blipFill>
        <p:spPr>
          <a:xfrm>
            <a:off x="103775" y="4421550"/>
            <a:ext cx="1697574" cy="64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152400">
            <a:solidFill>
              <a:srgbClr val="1E37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Study Outcome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Original PCA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 rotWithShape="1">
          <a:blip r:embed="rId3">
            <a:alphaModFix/>
          </a:blip>
          <a:srcRect b="0" l="0" r="0" t="13547"/>
          <a:stretch/>
        </p:blipFill>
        <p:spPr>
          <a:xfrm>
            <a:off x="103775" y="4421550"/>
            <a:ext cx="1697574" cy="64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5550" y="913550"/>
            <a:ext cx="5943600" cy="40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152400">
            <a:solidFill>
              <a:srgbClr val="1E37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Study Outcome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152475"/>
            <a:ext cx="255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PCA after more processing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7" name="Google Shape;117;p20"/>
          <p:cNvPicPr preferRelativeResize="0"/>
          <p:nvPr/>
        </p:nvPicPr>
        <p:blipFill rotWithShape="1">
          <a:blip r:embed="rId3">
            <a:alphaModFix/>
          </a:blip>
          <a:srcRect b="0" l="0" r="0" t="13547"/>
          <a:stretch/>
        </p:blipFill>
        <p:spPr>
          <a:xfrm>
            <a:off x="103775" y="4421550"/>
            <a:ext cx="1697574" cy="64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9129" y="1017713"/>
            <a:ext cx="5968496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152400">
            <a:solidFill>
              <a:srgbClr val="1E37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Predicting Outcome Type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2295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ICU Transfer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Death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Palliative Entry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Palliative discharge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Discharge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6" name="Google Shape;126;p21"/>
          <p:cNvPicPr preferRelativeResize="0"/>
          <p:nvPr/>
        </p:nvPicPr>
        <p:blipFill rotWithShape="1">
          <a:blip r:embed="rId3">
            <a:alphaModFix/>
          </a:blip>
          <a:srcRect b="0" l="0" r="0" t="13547"/>
          <a:stretch/>
        </p:blipFill>
        <p:spPr>
          <a:xfrm>
            <a:off x="103775" y="4421550"/>
            <a:ext cx="1697574" cy="64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8475" y="1208075"/>
            <a:ext cx="6014076" cy="376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152400">
            <a:solidFill>
              <a:srgbClr val="1E37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Next Steps/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Challenges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GB">
                <a:solidFill>
                  <a:schemeClr val="dk1"/>
                </a:solidFill>
              </a:rPr>
              <a:t>Identify clusters in re-made PCA → target hit features → run regression model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Incorporate other variable data types with robust server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Unbalanced dataset (more discharged patients)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Incorporate </a:t>
            </a:r>
            <a:r>
              <a:rPr lang="en-GB">
                <a:solidFill>
                  <a:schemeClr val="dk1"/>
                </a:solidFill>
              </a:rPr>
              <a:t>comparison</a:t>
            </a:r>
            <a:r>
              <a:rPr lang="en-GB">
                <a:solidFill>
                  <a:schemeClr val="dk1"/>
                </a:solidFill>
              </a:rPr>
              <a:t> between lab-values and baseline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5" name="Google Shape;135;p22"/>
          <p:cNvPicPr preferRelativeResize="0"/>
          <p:nvPr/>
        </p:nvPicPr>
        <p:blipFill rotWithShape="1">
          <a:blip r:embed="rId3">
            <a:alphaModFix/>
          </a:blip>
          <a:srcRect b="0" l="0" r="0" t="13547"/>
          <a:stretch/>
        </p:blipFill>
        <p:spPr>
          <a:xfrm>
            <a:off x="103775" y="4421550"/>
            <a:ext cx="1697574" cy="64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152400">
            <a:solidFill>
              <a:srgbClr val="1E37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Predict Patient’s Sleep Apnea with CNN Method: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311700" y="11994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Input: EDG Signal Plot Images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3" name="Google Shape;143;p23"/>
          <p:cNvPicPr preferRelativeResize="0"/>
          <p:nvPr/>
        </p:nvPicPr>
        <p:blipFill rotWithShape="1">
          <a:blip r:embed="rId3">
            <a:alphaModFix/>
          </a:blip>
          <a:srcRect b="0" l="0" r="0" t="13547"/>
          <a:stretch/>
        </p:blipFill>
        <p:spPr>
          <a:xfrm>
            <a:off x="103775" y="4421550"/>
            <a:ext cx="1697574" cy="64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96" y="1749125"/>
            <a:ext cx="1489650" cy="1551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00246" y="1822850"/>
            <a:ext cx="1336399" cy="149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35550" y="1489473"/>
            <a:ext cx="1697575" cy="1831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22750" y="1761575"/>
            <a:ext cx="1489650" cy="1526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152400">
            <a:solidFill>
              <a:srgbClr val="1E37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4"/>
          <p:cNvPicPr preferRelativeResize="0"/>
          <p:nvPr/>
        </p:nvPicPr>
        <p:blipFill rotWithShape="1">
          <a:blip r:embed="rId3">
            <a:alphaModFix/>
          </a:blip>
          <a:srcRect b="0" l="0" r="0" t="13547"/>
          <a:stretch/>
        </p:blipFill>
        <p:spPr>
          <a:xfrm>
            <a:off x="103775" y="4421550"/>
            <a:ext cx="1697574" cy="64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150" y="832677"/>
            <a:ext cx="4368850" cy="301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9325" y="277375"/>
            <a:ext cx="3020549" cy="2209424"/>
          </a:xfrm>
          <a:prstGeom prst="rect">
            <a:avLst/>
          </a:prstGeom>
          <a:noFill/>
          <a:ln cap="flat" cmpd="sng" w="152400">
            <a:solidFill>
              <a:srgbClr val="1E376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6" name="Google Shape;156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69325" y="2658750"/>
            <a:ext cx="3020550" cy="2404041"/>
          </a:xfrm>
          <a:prstGeom prst="rect">
            <a:avLst/>
          </a:prstGeom>
          <a:noFill/>
          <a:ln cap="flat" cmpd="sng" w="152400">
            <a:solidFill>
              <a:srgbClr val="1E3765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